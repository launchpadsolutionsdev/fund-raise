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embeddedFontLst>
    <p:embeddedFont>
      <p:font typeface="Roboto" panose="020B0604020202020204" charset="0"/>
      <p:regular r:id="rId9"/>
      <p:bold r:id="rId10"/>
      <p:italic r:id="rId11"/>
      <p:boldItalic r:id="rId12"/>
    </p:embeddedFont>
    <p:embeddedFont>
      <p:font typeface="Montserrat" panose="020B0604020202020204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CE397E30-9B7B-42EA-9B05-8A040CA12858}">
  <a:tblStyle styleId="{CE397E30-9B7B-42EA-9B05-8A040CA1285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227" autoAdjust="0"/>
    <p:restoredTop sz="94660"/>
  </p:normalViewPr>
  <p:slideViewPr>
    <p:cSldViewPr snapToGrid="0">
      <p:cViewPr>
        <p:scale>
          <a:sx n="125" d="100"/>
          <a:sy n="125" d="100"/>
        </p:scale>
        <p:origin x="-560" y="-33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openxmlformats.org/officeDocument/2006/relationships/font" Target="fonts/font5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8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font" Target="fonts/font7.fntdata"/><Relationship Id="rId10" Type="http://schemas.openxmlformats.org/officeDocument/2006/relationships/font" Target="fonts/font2.fntdata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font" Target="fonts/font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d187432270_0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d187432270_0_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da0e8c66e4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da0e8c66e4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da0e8c66e4_0_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da0e8c66e4_0_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da0e8c66e4_0_7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da0e8c66e4_0_7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a0e8c66e4_0_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a0e8c66e4_0_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subTitle" idx="1"/>
          </p:nvPr>
        </p:nvSpPr>
        <p:spPr>
          <a:xfrm>
            <a:off x="736900" y="146900"/>
            <a:ext cx="8204100" cy="146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073763"/>
                </a:solidFill>
              </a:rPr>
              <a:t>PHILANTHROPY</a:t>
            </a:r>
            <a:r>
              <a:rPr lang="en" dirty="0"/>
              <a:t> </a:t>
            </a:r>
            <a:r>
              <a:rPr lang="en" dirty="0">
                <a:solidFill>
                  <a:srgbClr val="6D9EEB"/>
                </a:solidFill>
              </a:rPr>
              <a:t>PROGRAM REPORT</a:t>
            </a:r>
            <a:br>
              <a:rPr lang="en" dirty="0">
                <a:solidFill>
                  <a:srgbClr val="6D9EEB"/>
                </a:solidFill>
              </a:rPr>
            </a:br>
            <a:r>
              <a:rPr lang="en" sz="2600" dirty="0">
                <a:solidFill>
                  <a:srgbClr val="073763"/>
                </a:solidFill>
              </a:rPr>
              <a:t>FY 2025-26 </a:t>
            </a:r>
            <a:endParaRPr sz="2600" dirty="0">
              <a:solidFill>
                <a:srgbClr val="6D9EEB"/>
              </a:solidFill>
            </a:endParaRPr>
          </a:p>
        </p:txBody>
      </p:sp>
      <p:pic>
        <p:nvPicPr>
          <p:cNvPr id="55" name="Google Shape;55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6900" y="146900"/>
            <a:ext cx="1387269" cy="657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9750" y="2970550"/>
            <a:ext cx="2980437" cy="18429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7" name="Google Shape;57;p13"/>
          <p:cNvSpPr/>
          <p:nvPr/>
        </p:nvSpPr>
        <p:spPr>
          <a:xfrm>
            <a:off x="6526175" y="1042400"/>
            <a:ext cx="2414700" cy="18429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63025" tIns="163025" rIns="163025" bIns="1630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GOAL</a:t>
            </a:r>
            <a:r>
              <a:rPr lang="en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         </a:t>
            </a:r>
            <a:r>
              <a:rPr lang="en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$5,962,927</a:t>
            </a:r>
            <a:endParaRPr sz="10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000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$ Gifts</a:t>
            </a:r>
            <a:r>
              <a:rPr lang="en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$5,492,393</a:t>
            </a:r>
            <a:r>
              <a:rPr lang="en" sz="1000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000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000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Gifts	           </a:t>
            </a:r>
            <a:r>
              <a:rPr lang="en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13,720</a:t>
            </a:r>
            <a:endParaRPr sz="10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% Goal  </a:t>
            </a:r>
            <a:r>
              <a:rPr lang="en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              </a:t>
            </a:r>
            <a:r>
              <a:rPr lang="en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</a:t>
            </a:r>
            <a:r>
              <a:rPr lang="en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92%</a:t>
            </a:r>
            <a:endParaRPr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r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83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383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83" dirty="0">
              <a:solidFill>
                <a:schemeClr val="lt1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683" dirty="0">
              <a:solidFill>
                <a:srgbClr val="FFFFFF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58" name="Google Shape;58;p13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433687" y="1037100"/>
            <a:ext cx="2980431" cy="18429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</p:pic>
      <p:graphicFrame>
        <p:nvGraphicFramePr>
          <p:cNvPr id="60" name="Google Shape;60;p13"/>
          <p:cNvGraphicFramePr/>
          <p:nvPr>
            <p:extLst>
              <p:ext uri="{D42A27DB-BD31-4B8C-83A1-F6EECF244321}">
                <p14:modId xmlns:p14="http://schemas.microsoft.com/office/powerpoint/2010/main" val="1484307207"/>
              </p:ext>
            </p:extLst>
          </p:nvPr>
        </p:nvGraphicFramePr>
        <p:xfrm>
          <a:off x="3433687" y="2968513"/>
          <a:ext cx="5483250" cy="1839630"/>
        </p:xfrm>
        <a:graphic>
          <a:graphicData uri="http://schemas.openxmlformats.org/drawingml/2006/table">
            <a:tbl>
              <a:tblPr>
                <a:noFill/>
                <a:tableStyleId>{CE397E30-9B7B-42EA-9B05-8A040CA12858}</a:tableStyleId>
              </a:tblPr>
              <a:tblGrid>
                <a:gridCol w="9138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13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38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38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138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138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55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600" b="1">
                          <a:solidFill>
                            <a:srgbClr val="073763"/>
                          </a:solidFill>
                        </a:rPr>
                        <a:t>5 year comparison</a:t>
                      </a:r>
                      <a:endParaRPr sz="600" b="1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 b="1">
                          <a:solidFill>
                            <a:srgbClr val="073763"/>
                          </a:solidFill>
                        </a:rPr>
                        <a:t>2021-22</a:t>
                      </a:r>
                      <a:endParaRPr sz="1000" b="1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rgbClr val="073763"/>
                          </a:solidFill>
                        </a:rPr>
                        <a:t>2022-23</a:t>
                      </a:r>
                      <a:endParaRPr sz="1000" b="1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rgbClr val="073763"/>
                          </a:solidFill>
                        </a:rPr>
                        <a:t>2023-24</a:t>
                      </a:r>
                      <a:endParaRPr sz="1000" b="1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rgbClr val="073763"/>
                          </a:solidFill>
                        </a:rPr>
                        <a:t>2024-25</a:t>
                      </a:r>
                      <a:endParaRPr sz="1000" b="1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rgbClr val="073763"/>
                          </a:solidFill>
                        </a:rPr>
                        <a:t>2025-2026</a:t>
                      </a:r>
                      <a:endParaRPr sz="1000" b="1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C9DA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Total Giving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$4,263,340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$3,975,122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$4,039,676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$4,407,016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$5,492,393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7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# of Gifts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15,995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16,596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12,816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14,734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13,720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26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# Donors</a:t>
                      </a:r>
                      <a:endParaRPr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6,201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7,796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5,363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rgbClr val="073763"/>
                          </a:solidFill>
                        </a:rPr>
                        <a:t>7,049</a:t>
                      </a:r>
                      <a:endParaRPr sz="110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 dirty="0">
                          <a:solidFill>
                            <a:srgbClr val="073763"/>
                          </a:solidFill>
                        </a:rPr>
                        <a:t>5,703</a:t>
                      </a:r>
                      <a:endParaRPr sz="1100" dirty="0">
                        <a:solidFill>
                          <a:srgbClr val="073763"/>
                        </a:solidFill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C2F4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269310" y="4813450"/>
            <a:ext cx="6663846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800" dirty="0" smtClean="0"/>
              <a:t>Prepared by: Shelley Graham - Sr. Director, Philanthropy   04/09/26</a:t>
            </a:r>
            <a:endParaRPr lang="en-CA" sz="800" dirty="0"/>
          </a:p>
        </p:txBody>
      </p:sp>
      <p:sp>
        <p:nvSpPr>
          <p:cNvPr id="6" name="Rectangle 5"/>
          <p:cNvSpPr/>
          <p:nvPr/>
        </p:nvSpPr>
        <p:spPr>
          <a:xfrm>
            <a:off x="2124169" y="667767"/>
            <a:ext cx="219287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CONFIDENTIAL</a:t>
            </a:r>
            <a:endParaRPr lang="en-US" b="0" cap="none" spc="0" dirty="0">
              <a:ln w="0">
                <a:noFill/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2860" y="1037100"/>
            <a:ext cx="2997327" cy="1842900"/>
          </a:xfrm>
          <a:prstGeom prst="rect">
            <a:avLst/>
          </a:prstGeom>
          <a:ln w="19050">
            <a:solidFill>
              <a:srgbClr val="002060"/>
            </a:solidFill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>
            <a:spLocks noGrp="1"/>
          </p:cNvSpPr>
          <p:nvPr>
            <p:ph type="title"/>
          </p:nvPr>
        </p:nvSpPr>
        <p:spPr>
          <a:xfrm>
            <a:off x="576925" y="194475"/>
            <a:ext cx="78852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73763"/>
                </a:solidFill>
              </a:rPr>
              <a:t>Legacy </a:t>
            </a:r>
            <a:r>
              <a:rPr lang="en" b="1" dirty="0" smtClean="0">
                <a:solidFill>
                  <a:srgbClr val="073763"/>
                </a:solidFill>
              </a:rPr>
              <a:t>Giving  FY </a:t>
            </a:r>
            <a:r>
              <a:rPr lang="en" b="1" dirty="0">
                <a:solidFill>
                  <a:srgbClr val="6D9EEB"/>
                </a:solidFill>
              </a:rPr>
              <a:t>2025-26</a:t>
            </a:r>
            <a:r>
              <a:rPr lang="en" b="1" dirty="0">
                <a:solidFill>
                  <a:srgbClr val="073763"/>
                </a:solidFill>
              </a:rPr>
              <a:t>		    </a:t>
            </a:r>
            <a:endParaRPr sz="2356" dirty="0">
              <a:solidFill>
                <a:srgbClr val="6D9E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580875" y="767175"/>
            <a:ext cx="2601000" cy="40830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Annual Goal  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1,200,000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Total Gifts</a:t>
            </a:r>
            <a:r>
              <a:rPr lang="en" sz="1500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" sz="1500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715, 704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Variance</a:t>
            </a:r>
            <a:r>
              <a:rPr lang="en" sz="1500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	</a:t>
            </a:r>
            <a:r>
              <a:rPr lang="en" sz="1500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484, 296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% Goal</a:t>
            </a:r>
            <a:r>
              <a:rPr lang="en" sz="1500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	</a:t>
            </a:r>
            <a:r>
              <a:rPr lang="en" sz="1500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         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60%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i="1" dirty="0">
                <a:solidFill>
                  <a:srgbClr val="073763"/>
                </a:solidFill>
              </a:rPr>
              <a:t>Revenue shortfall reflects delayed realization of two estate gifts, both now anticipated in 2026-27</a:t>
            </a:r>
            <a:endParaRPr sz="1100" i="1" dirty="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100" i="1" dirty="0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3 year average 		$810,619</a:t>
            </a:r>
            <a:br>
              <a:rPr lang="en" sz="1000" i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000" i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5 year average		$604,284</a:t>
            </a:r>
            <a:endParaRPr sz="1000" i="1" dirty="0"/>
          </a:p>
        </p:txBody>
      </p:sp>
      <p:pic>
        <p:nvPicPr>
          <p:cNvPr id="71" name="Google Shape;71;p14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22598" y="3231525"/>
            <a:ext cx="2648151" cy="1675671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68" name="Google Shape;68;p14"/>
          <p:cNvGrpSpPr/>
          <p:nvPr/>
        </p:nvGrpSpPr>
        <p:grpSpPr>
          <a:xfrm>
            <a:off x="5857175" y="767175"/>
            <a:ext cx="2782126" cy="4082871"/>
            <a:chOff x="1118224" y="283725"/>
            <a:chExt cx="2339100" cy="4484700"/>
          </a:xfrm>
        </p:grpSpPr>
        <p:sp>
          <p:nvSpPr>
            <p:cNvPr id="69" name="Google Shape;69;p14"/>
            <p:cNvSpPr/>
            <p:nvPr/>
          </p:nvSpPr>
          <p:spPr>
            <a:xfrm>
              <a:off x="1141050" y="283725"/>
              <a:ext cx="2067900" cy="4076400"/>
            </a:xfrm>
            <a:prstGeom prst="rect">
              <a:avLst/>
            </a:prstGeom>
            <a:solidFill>
              <a:srgbClr val="073763"/>
            </a:solidFill>
            <a:ln w="19050" cap="flat" cmpd="sng">
              <a:solidFill>
                <a:srgbClr val="073763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70" name="Google Shape;70;p14"/>
            <p:cNvSpPr/>
            <p:nvPr/>
          </p:nvSpPr>
          <p:spPr>
            <a:xfrm>
              <a:off x="1118224" y="283725"/>
              <a:ext cx="2339100" cy="4484700"/>
            </a:xfrm>
            <a:prstGeom prst="rect">
              <a:avLst/>
            </a:prstGeom>
            <a:solidFill>
              <a:schemeClr val="lt1"/>
            </a:solidFill>
            <a:ln w="19050" cap="flat" cmpd="sng">
              <a:solidFill>
                <a:srgbClr val="073763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6D9EEB"/>
                  </a:solidFill>
                </a:rPr>
                <a:t>Q4 Highlights:</a:t>
              </a:r>
              <a:r>
                <a:rPr lang="en" sz="1200" dirty="0">
                  <a:solidFill>
                    <a:schemeClr val="dk1"/>
                  </a:solidFill>
                </a:rPr>
                <a:t/>
              </a:r>
              <a:br>
                <a:rPr lang="en" sz="1200" dirty="0">
                  <a:solidFill>
                    <a:schemeClr val="dk1"/>
                  </a:solidFill>
                </a:rPr>
              </a:br>
              <a:r>
                <a:rPr lang="en" sz="1200" dirty="0">
                  <a:solidFill>
                    <a:schemeClr val="dk1"/>
                  </a:solidFill>
                </a:rPr>
                <a:t>-</a:t>
              </a:r>
              <a:r>
                <a:rPr lang="en" sz="1200" dirty="0">
                  <a:solidFill>
                    <a:srgbClr val="073763"/>
                  </a:solidFill>
                </a:rPr>
                <a:t>Proactive Estate Administration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73763"/>
                  </a:solidFill>
                </a:rPr>
                <a:t>-Expanded Outreach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73763"/>
                  </a:solidFill>
                </a:rPr>
                <a:t>-Community Engagement</a:t>
              </a:r>
              <a:br>
                <a:rPr lang="en" sz="1200" dirty="0">
                  <a:solidFill>
                    <a:srgbClr val="073763"/>
                  </a:solidFill>
                </a:rPr>
              </a:br>
              <a:r>
                <a:rPr lang="en" sz="1200" dirty="0">
                  <a:solidFill>
                    <a:srgbClr val="073763"/>
                  </a:solidFill>
                </a:rPr>
                <a:t>	</a:t>
              </a:r>
              <a:r>
                <a:rPr lang="en" sz="1000" dirty="0">
                  <a:solidFill>
                    <a:srgbClr val="073763"/>
                  </a:solidFill>
                </a:rPr>
                <a:t>55+ Health &amp; Wellness Fair</a:t>
              </a:r>
              <a:br>
                <a:rPr lang="en" sz="1000" dirty="0">
                  <a:solidFill>
                    <a:srgbClr val="073763"/>
                  </a:solidFill>
                </a:rPr>
              </a:br>
              <a:r>
                <a:rPr lang="en" sz="1000" dirty="0">
                  <a:solidFill>
                    <a:srgbClr val="073763"/>
                  </a:solidFill>
                </a:rPr>
                <a:t>	Alterna/Erikson Presentation </a:t>
              </a:r>
              <a:endParaRPr sz="10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73763"/>
                  </a:solidFill>
                </a:rPr>
                <a:t>-Operational Planning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 dirty="0">
                  <a:solidFill>
                    <a:srgbClr val="6D9EEB"/>
                  </a:solidFill>
                </a:rPr>
                <a:t>2026-27 Q1 Priorities:</a:t>
              </a:r>
              <a:r>
                <a:rPr lang="en" sz="1200" dirty="0">
                  <a:solidFill>
                    <a:schemeClr val="dk1"/>
                  </a:solidFill>
                </a:rPr>
                <a:t/>
              </a:r>
              <a:br>
                <a:rPr lang="en" sz="1200" dirty="0">
                  <a:solidFill>
                    <a:schemeClr val="dk1"/>
                  </a:solidFill>
                </a:rPr>
              </a:br>
              <a:r>
                <a:rPr lang="en" sz="1200" dirty="0">
                  <a:solidFill>
                    <a:schemeClr val="dk1"/>
                  </a:solidFill>
                </a:rPr>
                <a:t>-</a:t>
              </a:r>
              <a:r>
                <a:rPr lang="en" sz="1200" dirty="0">
                  <a:solidFill>
                    <a:srgbClr val="073763"/>
                  </a:solidFill>
                </a:rPr>
                <a:t>Attend CAGP Conference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73763"/>
                  </a:solidFill>
                </a:rPr>
                <a:t>-Love &amp; Loyalty - Easter cards (52)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73763"/>
                  </a:solidFill>
                </a:rPr>
                <a:t>-Increase intentional solicitations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73763"/>
                  </a:solidFill>
                </a:rPr>
                <a:t>-Awareness Campaign for May (Leave a Legacy month):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smtClean="0">
                  <a:solidFill>
                    <a:srgbClr val="073763"/>
                  </a:solidFill>
                </a:rPr>
                <a:t>              -</a:t>
              </a:r>
              <a:r>
                <a:rPr lang="en" sz="1200" dirty="0">
                  <a:solidFill>
                    <a:srgbClr val="073763"/>
                  </a:solidFill>
                </a:rPr>
                <a:t>Multi channel comms </a:t>
              </a:r>
              <a:r>
                <a:rPr lang="en" sz="1200" dirty="0" smtClean="0">
                  <a:solidFill>
                    <a:srgbClr val="073763"/>
                  </a:solidFill>
                </a:rPr>
                <a:t>plan</a:t>
              </a:r>
              <a:r>
                <a:rPr lang="en" sz="1200" dirty="0">
                  <a:solidFill>
                    <a:srgbClr val="073763"/>
                  </a:solidFill>
                </a:rPr>
                <a:t> </a:t>
              </a: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 smtClean="0">
                  <a:solidFill>
                    <a:srgbClr val="073763"/>
                  </a:solidFill>
                </a:rPr>
                <a:t>              -Legacy </a:t>
              </a:r>
              <a:r>
                <a:rPr lang="en" sz="1200" dirty="0">
                  <a:solidFill>
                    <a:srgbClr val="073763"/>
                  </a:solidFill>
                </a:rPr>
                <a:t>newsletter (1,500)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rgbClr val="073763"/>
                  </a:solidFill>
                </a:rPr>
                <a:t>          </a:t>
              </a:r>
              <a:r>
                <a:rPr lang="en" sz="1200" dirty="0" smtClean="0">
                  <a:solidFill>
                    <a:srgbClr val="073763"/>
                  </a:solidFill>
                </a:rPr>
                <a:t>    </a:t>
              </a:r>
              <a:r>
                <a:rPr lang="en" sz="1200" dirty="0">
                  <a:solidFill>
                    <a:srgbClr val="073763"/>
                  </a:solidFill>
                </a:rPr>
                <a:t>-Virtual presentation (NOSM)</a:t>
              </a: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rgbClr val="073763"/>
                </a:solidFill>
              </a:endParaRPr>
            </a:p>
            <a:p>
              <a:pPr marL="0" lvl="0" indent="0" algn="l" rtl="0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dirty="0">
                <a:solidFill>
                  <a:srgbClr val="073763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dirty="0">
                  <a:solidFill>
                    <a:schemeClr val="dk1"/>
                  </a:solidFill>
                </a:rPr>
                <a:t>	</a:t>
              </a:r>
              <a:endParaRPr sz="12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</a:endParaRPr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 dirty="0">
                <a:solidFill>
                  <a:schemeClr val="dk1"/>
                </a:solidFill>
              </a:endParaRPr>
            </a:p>
          </p:txBody>
        </p:sp>
      </p:grpSp>
      <p:sp>
        <p:nvSpPr>
          <p:cNvPr id="67" name="Google Shape;67;p14"/>
          <p:cNvSpPr/>
          <p:nvPr/>
        </p:nvSpPr>
        <p:spPr>
          <a:xfrm>
            <a:off x="3302125" y="767175"/>
            <a:ext cx="2434800" cy="24072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Open Estates	</a:t>
            </a:r>
            <a:r>
              <a:rPr lang="en" sz="11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                          </a:t>
            </a:r>
            <a: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14</a:t>
            </a:r>
            <a:endParaRPr sz="11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0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New Expectancies	</a:t>
            </a:r>
            <a:r>
              <a:rPr lang="en" sz="11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1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Total </a:t>
            </a:r>
            <a:r>
              <a:rPr lang="en" sz="11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Expectancies</a:t>
            </a:r>
            <a: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	   </a:t>
            </a:r>
            <a:r>
              <a:rPr lang="en" sz="11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77</a:t>
            </a:r>
            <a:endParaRPr sz="11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FY Average </a:t>
            </a:r>
            <a:r>
              <a:rPr lang="en" sz="11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Gift                    </a:t>
            </a:r>
            <a: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$27,527</a:t>
            </a:r>
            <a:b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1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Limetime Average Gift       </a:t>
            </a:r>
            <a:r>
              <a:rPr lang="en" sz="11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$75,000</a:t>
            </a:r>
            <a:endParaRPr sz="11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1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769812" y="326937"/>
            <a:ext cx="219287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CONFIDENTIAL</a:t>
            </a:r>
            <a:endParaRPr lang="en-US" b="0" cap="none" spc="0" dirty="0">
              <a:ln w="0">
                <a:noFill/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861283" y="3738788"/>
            <a:ext cx="1981642" cy="1180550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5"/>
          <p:cNvSpPr txBox="1">
            <a:spLocks noGrp="1"/>
          </p:cNvSpPr>
          <p:nvPr>
            <p:ph type="title"/>
          </p:nvPr>
        </p:nvSpPr>
        <p:spPr>
          <a:xfrm>
            <a:off x="634975" y="196300"/>
            <a:ext cx="7793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073763"/>
                </a:solidFill>
              </a:rPr>
              <a:t>Major Gifts FY </a:t>
            </a:r>
            <a:r>
              <a:rPr lang="en" b="1">
                <a:solidFill>
                  <a:srgbClr val="6D9EEB"/>
                </a:solidFill>
              </a:rPr>
              <a:t>2025-26</a:t>
            </a:r>
            <a:r>
              <a:rPr lang="en" b="1">
                <a:solidFill>
                  <a:srgbClr val="073763"/>
                </a:solidFill>
              </a:rPr>
              <a:t>				   </a:t>
            </a:r>
            <a:endParaRPr sz="2356">
              <a:solidFill>
                <a:srgbClr val="6D9E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77" name="Google Shape;77;p15"/>
          <p:cNvSpPr/>
          <p:nvPr/>
        </p:nvSpPr>
        <p:spPr>
          <a:xfrm>
            <a:off x="689250" y="769075"/>
            <a:ext cx="2424900" cy="13692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GOAL 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$3,041,000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Total Gifts    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$2,500,215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% Goal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     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82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2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2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8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78" name="Google Shape;78;p15"/>
          <p:cNvSpPr/>
          <p:nvPr/>
        </p:nvSpPr>
        <p:spPr>
          <a:xfrm>
            <a:off x="5842925" y="769000"/>
            <a:ext cx="2679600" cy="3562800"/>
          </a:xfrm>
          <a:prstGeom prst="rect">
            <a:avLst/>
          </a:prstGeom>
          <a:solidFill>
            <a:srgbClr val="FFFFFF"/>
          </a:solidFill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D9EEB"/>
                </a:solidFill>
              </a:rPr>
              <a:t>Q4 Highlights:</a:t>
            </a: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-</a:t>
            </a:r>
            <a:r>
              <a:rPr lang="en" sz="1200">
                <a:solidFill>
                  <a:srgbClr val="073763"/>
                </a:solidFill>
              </a:rPr>
              <a:t>Wrap Up of Women in Action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-Transition from Campaign based to Donor Centric fundraising 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-Stewardship of OHAH donors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-Cross program support, leveraging MG’s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6D9EEB"/>
                </a:solidFill>
              </a:rPr>
              <a:t>2026-27 Q1 Priorities:</a:t>
            </a: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-</a:t>
            </a:r>
            <a:r>
              <a:rPr lang="en" sz="1200">
                <a:solidFill>
                  <a:srgbClr val="073763"/>
                </a:solidFill>
              </a:rPr>
              <a:t>Increase qualified solicitations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-Secure 2 new MG donors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-Increase attendance at community networking events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-Constantly moving donors through donor cycle (moves management)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pic>
        <p:nvPicPr>
          <p:cNvPr id="79" name="Google Shape;79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275" y="2224550"/>
            <a:ext cx="2424900" cy="1327625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5"/>
          <p:cNvSpPr/>
          <p:nvPr/>
        </p:nvSpPr>
        <p:spPr>
          <a:xfrm>
            <a:off x="3257238" y="769000"/>
            <a:ext cx="2442600" cy="18429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Pledged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Gifts                             </a:t>
            </a:r>
            <a:r>
              <a:rPr lang="en" sz="12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2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$ Pledged Gifts      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  </a:t>
            </a:r>
            <a:r>
              <a:rPr lang="en" sz="12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35,000</a:t>
            </a:r>
            <a:b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Gifts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Received</a:t>
            </a: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	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134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$ Gifts Received         </a:t>
            </a:r>
            <a:r>
              <a:rPr lang="en" sz="12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$2,465,215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New MG Donors                 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9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81" name="Google Shape;81;p15"/>
          <p:cNvPicPr preferRelativeResize="0"/>
          <p:nvPr/>
        </p:nvPicPr>
        <p:blipFill rotWithShape="1">
          <a:blip r:embed="rId5">
            <a:alphaModFix/>
          </a:blip>
          <a:srcRect l="2055" t="4784" r="1911" b="3033"/>
          <a:stretch/>
        </p:blipFill>
        <p:spPr>
          <a:xfrm>
            <a:off x="764200" y="3638450"/>
            <a:ext cx="2274999" cy="12365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" name="Google Shape;82;p15" title="Chart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257251" y="2645875"/>
            <a:ext cx="1838024" cy="1139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" name="Picture 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02641" y="360570"/>
            <a:ext cx="2194750" cy="40846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6"/>
          <p:cNvSpPr txBox="1">
            <a:spLocks noGrp="1"/>
          </p:cNvSpPr>
          <p:nvPr>
            <p:ph type="title"/>
          </p:nvPr>
        </p:nvSpPr>
        <p:spPr>
          <a:xfrm>
            <a:off x="610350" y="196300"/>
            <a:ext cx="79233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073763"/>
                </a:solidFill>
              </a:rPr>
              <a:t>Events FY </a:t>
            </a:r>
            <a:r>
              <a:rPr lang="en" b="1" dirty="0">
                <a:solidFill>
                  <a:srgbClr val="6D9EEB"/>
                </a:solidFill>
              </a:rPr>
              <a:t>2025-26</a:t>
            </a:r>
            <a:r>
              <a:rPr lang="en" b="1" dirty="0">
                <a:solidFill>
                  <a:srgbClr val="073763"/>
                </a:solidFill>
              </a:rPr>
              <a:t>					      </a:t>
            </a:r>
            <a:endParaRPr sz="2356" dirty="0">
              <a:solidFill>
                <a:srgbClr val="6D9E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89" name="Google Shape;89;p16"/>
          <p:cNvSpPr/>
          <p:nvPr/>
        </p:nvSpPr>
        <p:spPr>
          <a:xfrm>
            <a:off x="3204175" y="769000"/>
            <a:ext cx="2473800" cy="26847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Sig. Events Goal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       $399,300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Sig. Events    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$367,016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Sig. Events	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	         4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Comm. Events Goal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" sz="12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286,900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Comm.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Events          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$323,818</a:t>
            </a: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Comm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Events                    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50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New Comm Events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	     </a:t>
            </a:r>
            <a:r>
              <a:rPr lang="en" sz="12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13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0" name="Google Shape;90;p16"/>
          <p:cNvSpPr/>
          <p:nvPr/>
        </p:nvSpPr>
        <p:spPr>
          <a:xfrm>
            <a:off x="5793925" y="769000"/>
            <a:ext cx="2796000" cy="36195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D9EEB"/>
                </a:solidFill>
              </a:rPr>
              <a:t>Q4 Highlights:</a:t>
            </a: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-</a:t>
            </a:r>
            <a:r>
              <a:rPr lang="en" sz="1200">
                <a:solidFill>
                  <a:srgbClr val="073763"/>
                </a:solidFill>
              </a:rPr>
              <a:t>Staff at full complement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-Inaugural SSS high potential for growth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-OnceCause streamlining workflows and event admin efficiencies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-Increase in Comm events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-Cross departmental strategies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D9EEB"/>
                </a:solidFill>
              </a:rPr>
              <a:t>2026-27 Q1 Priorities:</a:t>
            </a: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-</a:t>
            </a:r>
            <a:r>
              <a:rPr lang="en" sz="1200">
                <a:solidFill>
                  <a:srgbClr val="073763"/>
                </a:solidFill>
              </a:rPr>
              <a:t>CTC - April 16th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	-increased sponsorship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	-high value prizes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	-increase ticket sales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-MRFD - ongoing planning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73763"/>
                </a:solidFill>
              </a:rPr>
              <a:t>-LOH - secure speaker </a:t>
            </a:r>
            <a:r>
              <a:rPr lang="en" sz="1000">
                <a:solidFill>
                  <a:srgbClr val="073763"/>
                </a:solidFill>
              </a:rPr>
              <a:t>(Kim MacDonald) </a:t>
            </a:r>
            <a:endParaRPr sz="10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073763"/>
                </a:solidFill>
              </a:rPr>
              <a:t>           </a:t>
            </a:r>
            <a:r>
              <a:rPr lang="en" sz="1200">
                <a:solidFill>
                  <a:srgbClr val="073763"/>
                </a:solidFill>
              </a:rPr>
              <a:t> - recruit committee members   </a:t>
            </a:r>
            <a:r>
              <a:rPr lang="en" sz="1000">
                <a:solidFill>
                  <a:srgbClr val="073763"/>
                </a:solidFill>
              </a:rPr>
              <a:t>  </a:t>
            </a:r>
            <a:endParaRPr sz="10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</p:txBody>
      </p:sp>
      <p:sp>
        <p:nvSpPr>
          <p:cNvPr id="91" name="Google Shape;91;p16"/>
          <p:cNvSpPr/>
          <p:nvPr/>
        </p:nvSpPr>
        <p:spPr>
          <a:xfrm>
            <a:off x="614400" y="769000"/>
            <a:ext cx="2473800" cy="14571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GOAL 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    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686,300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Total Raised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$690,834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% </a:t>
            </a:r>
            <a:r>
              <a:rPr lang="en" sz="15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Goal                      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101%</a:t>
            </a:r>
            <a: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2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22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8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92" name="Google Shape;92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98500" y="2290562"/>
            <a:ext cx="2029275" cy="1188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93" name="Google Shape;93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381400" y="3543299"/>
            <a:ext cx="3268600" cy="937125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Rectangle 7"/>
          <p:cNvSpPr/>
          <p:nvPr/>
        </p:nvSpPr>
        <p:spPr>
          <a:xfrm>
            <a:off x="6775949" y="373196"/>
            <a:ext cx="219287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CONFIDENTIAL</a:t>
            </a:r>
            <a:endParaRPr lang="en-US" b="0" cap="none" spc="0" dirty="0">
              <a:ln w="0">
                <a:noFill/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7"/>
          <p:cNvSpPr txBox="1">
            <a:spLocks noGrp="1"/>
          </p:cNvSpPr>
          <p:nvPr>
            <p:ph type="title"/>
          </p:nvPr>
        </p:nvSpPr>
        <p:spPr>
          <a:xfrm>
            <a:off x="697150" y="188169"/>
            <a:ext cx="76998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b="1" dirty="0">
                <a:solidFill>
                  <a:srgbClr val="073763"/>
                </a:solidFill>
              </a:rPr>
              <a:t>Annual Giving FY </a:t>
            </a:r>
            <a:r>
              <a:rPr lang="en" b="1" dirty="0">
                <a:solidFill>
                  <a:srgbClr val="6D9EEB"/>
                </a:solidFill>
              </a:rPr>
              <a:t>2025-26 </a:t>
            </a:r>
            <a:r>
              <a:rPr lang="en" b="1" dirty="0">
                <a:solidFill>
                  <a:srgbClr val="073763"/>
                </a:solidFill>
              </a:rPr>
              <a:t>	                                 </a:t>
            </a:r>
            <a:endParaRPr sz="1856" dirty="0">
              <a:solidFill>
                <a:srgbClr val="6D9E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5859975" y="716175"/>
            <a:ext cx="2526900" cy="3670800"/>
          </a:xfrm>
          <a:prstGeom prst="rect">
            <a:avLst/>
          </a:prstGeom>
          <a:solidFill>
            <a:schemeClr val="lt1"/>
          </a:solidFill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rgbClr val="6D9EEB"/>
                </a:solidFill>
              </a:rPr>
              <a:t>Q4 Highlights:</a:t>
            </a: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rgbClr val="073763"/>
                </a:solidFill>
              </a:rPr>
              <a:t>-Direct Response proves to remain a strong program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-Memorial gifts account for 43% of annual giving program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-Increase in Employee Giving retention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-AG portfolio shared across Philanthropy and Engagement Directors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D9EEB"/>
                </a:solidFill>
              </a:rPr>
              <a:t>2026-27 Q1 Priorities:</a:t>
            </a:r>
            <a:r>
              <a:rPr lang="en" sz="1200">
                <a:solidFill>
                  <a:schemeClr val="dk1"/>
                </a:solidFill>
              </a:rPr>
              <a:t/>
            </a:r>
            <a:br>
              <a:rPr lang="en" sz="1200">
                <a:solidFill>
                  <a:schemeClr val="dk1"/>
                </a:solidFill>
              </a:rPr>
            </a:br>
            <a:r>
              <a:rPr lang="en" sz="1200">
                <a:solidFill>
                  <a:schemeClr val="dk1"/>
                </a:solidFill>
              </a:rPr>
              <a:t>-</a:t>
            </a:r>
            <a:r>
              <a:rPr lang="en" sz="1200">
                <a:solidFill>
                  <a:srgbClr val="073763"/>
                </a:solidFill>
              </a:rPr>
              <a:t>Confirm DR schedule and appeal details (equipment)</a:t>
            </a:r>
            <a:endParaRPr sz="1200">
              <a:solidFill>
                <a:srgbClr val="073763"/>
              </a:solidFill>
            </a:endParaRPr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073763"/>
                </a:solidFill>
              </a:rPr>
              <a:t>-Use data to drive program decisions</a:t>
            </a:r>
            <a:endParaRPr sz="1200">
              <a:solidFill>
                <a:srgbClr val="073763"/>
              </a:solidFill>
            </a:endParaRPr>
          </a:p>
        </p:txBody>
      </p:sp>
      <p:pic>
        <p:nvPicPr>
          <p:cNvPr id="100" name="Google Shape;100;p17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5660" y="2417077"/>
            <a:ext cx="2384065" cy="1610893"/>
          </a:xfrm>
          <a:prstGeom prst="rect">
            <a:avLst/>
          </a:prstGeom>
          <a:noFill/>
          <a:ln>
            <a:noFill/>
          </a:ln>
        </p:spPr>
      </p:pic>
      <p:pic>
        <p:nvPicPr>
          <p:cNvPr id="101" name="Google Shape;101;p17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39375" y="2441300"/>
            <a:ext cx="2526900" cy="1562448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102" name="Google Shape;102;p17"/>
          <p:cNvSpPr/>
          <p:nvPr/>
        </p:nvSpPr>
        <p:spPr>
          <a:xfrm>
            <a:off x="3400450" y="716175"/>
            <a:ext cx="2293200" cy="16266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Donations	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              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9,160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$ Gifts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Received  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$616,570</a:t>
            </a: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Online </a:t>
            </a:r>
            <a:r>
              <a:rPr lang="en" sz="12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Donations     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1,424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Mailed in Donations      </a:t>
            </a:r>
            <a:r>
              <a:rPr lang="en" sz="12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7,737</a:t>
            </a: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39375" y="716175"/>
            <a:ext cx="2526900" cy="16266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5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GOAL 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 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689,500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Total Gifts 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</a:t>
            </a:r>
            <a:r>
              <a:rPr lang="en-US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690,070</a:t>
            </a: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 dirty="0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% Goal</a:t>
            </a:r>
            <a:r>
              <a:rPr lang="en" sz="1500" b="1" dirty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 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100.1</a:t>
            </a:r>
            <a:r>
              <a:rPr lang="en" sz="1500" b="1" dirty="0" smtClean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%</a:t>
            </a:r>
            <a:endParaRPr sz="15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9" name="Google Shape;103;p17"/>
          <p:cNvSpPr/>
          <p:nvPr/>
        </p:nvSpPr>
        <p:spPr>
          <a:xfrm>
            <a:off x="739374" y="4102274"/>
            <a:ext cx="5016335" cy="53862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sz="500" b="1" dirty="0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 smtClean="0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Giving Tuesday 2025 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500" b="1" dirty="0" smtClean="0">
                <a:solidFill>
                  <a:schemeClr val="accent3">
                    <a:lumMod val="50000"/>
                  </a:schemeClr>
                </a:solidFill>
                <a:latin typeface="Roboto"/>
                <a:ea typeface="Roboto"/>
                <a:cs typeface="Roboto"/>
                <a:sym typeface="Roboto"/>
              </a:rPr>
              <a:t>GOAL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b="1" dirty="0" smtClean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$30,000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</a:t>
            </a:r>
            <a:r>
              <a:rPr lang="en" sz="1500" b="1" dirty="0" smtClean="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RAISED</a:t>
            </a:r>
            <a:r>
              <a:rPr lang="en" sz="1500" b="1" dirty="0" smtClean="0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</a:t>
            </a:r>
            <a:r>
              <a:rPr lang="en" sz="1500" b="1" dirty="0" smtClean="0">
                <a:solidFill>
                  <a:schemeClr val="accent1"/>
                </a:solidFill>
                <a:latin typeface="Roboto"/>
                <a:ea typeface="Roboto"/>
                <a:cs typeface="Roboto"/>
                <a:sym typeface="Roboto"/>
              </a:rPr>
              <a:t>$73,500</a:t>
            </a:r>
            <a: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500" b="1" dirty="0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22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3000" b="1" dirty="0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604116" y="320630"/>
            <a:ext cx="219287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CONFIDENTIAL</a:t>
            </a:r>
            <a:endParaRPr lang="en-US" b="0" cap="none" spc="0" dirty="0">
              <a:ln w="0">
                <a:noFill/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8"/>
          <p:cNvSpPr txBox="1">
            <a:spLocks noGrp="1"/>
          </p:cNvSpPr>
          <p:nvPr>
            <p:ph type="title"/>
          </p:nvPr>
        </p:nvSpPr>
        <p:spPr>
          <a:xfrm>
            <a:off x="651000" y="206788"/>
            <a:ext cx="8157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lvl="0"/>
            <a:r>
              <a:rPr lang="en" b="1" dirty="0">
                <a:solidFill>
                  <a:srgbClr val="073763"/>
                </a:solidFill>
              </a:rPr>
              <a:t>Direct Response FY </a:t>
            </a:r>
            <a:r>
              <a:rPr lang="en" b="1" dirty="0">
                <a:solidFill>
                  <a:srgbClr val="6D9EEB"/>
                </a:solidFill>
              </a:rPr>
              <a:t>2025-26 </a:t>
            </a:r>
            <a:r>
              <a:rPr lang="en" b="1" dirty="0">
                <a:solidFill>
                  <a:srgbClr val="073763"/>
                </a:solidFill>
              </a:rPr>
              <a:t>	</a:t>
            </a:r>
            <a:endParaRPr sz="1467" dirty="0">
              <a:solidFill>
                <a:srgbClr val="6D9EEB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109" name="Google Shape;109;p18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86450" y="3348623"/>
            <a:ext cx="2486700" cy="1537626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110" name="Google Shape;110;p18"/>
          <p:cNvSpPr/>
          <p:nvPr/>
        </p:nvSpPr>
        <p:spPr>
          <a:xfrm>
            <a:off x="683125" y="716175"/>
            <a:ext cx="2583300" cy="15180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GOAL</a:t>
            </a:r>
            <a:r>
              <a:rPr lang="en" sz="1500" b="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        </a:t>
            </a:r>
            <a:r>
              <a:rPr lang="en" sz="15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$345,000</a:t>
            </a:r>
            <a:br>
              <a:rPr lang="en" sz="15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500" b="1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Total Gifts</a:t>
            </a:r>
            <a:r>
              <a:rPr lang="en" sz="1500" b="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</a:t>
            </a:r>
            <a:r>
              <a:rPr lang="en" sz="15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$252,127</a:t>
            </a:r>
            <a:endParaRPr sz="1500" b="1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% Goal</a:t>
            </a:r>
            <a:r>
              <a:rPr lang="en" sz="1500" b="1">
                <a:solidFill>
                  <a:srgbClr val="1D7E75"/>
                </a:solidFill>
                <a:latin typeface="Roboto"/>
                <a:ea typeface="Roboto"/>
                <a:cs typeface="Roboto"/>
                <a:sym typeface="Roboto"/>
              </a:rPr>
              <a:t>                              </a:t>
            </a:r>
            <a:r>
              <a:rPr lang="en" sz="15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73%</a:t>
            </a:r>
            <a:endParaRPr sz="3000" b="1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111" name="Google Shape;111;p18"/>
          <p:cNvSpPr/>
          <p:nvPr/>
        </p:nvSpPr>
        <p:spPr>
          <a:xfrm>
            <a:off x="731437" y="2363700"/>
            <a:ext cx="2486700" cy="2136000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Gifts Received	         </a:t>
            </a:r>
            <a:r>
              <a:rPr lang="en" sz="12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1,806</a:t>
            </a:r>
            <a:r>
              <a:rPr lang="en" sz="12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/>
            </a:r>
            <a:br>
              <a:rPr lang="en" sz="12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</a:br>
            <a:endParaRPr sz="1200" b="1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Cash Gifts    	         </a:t>
            </a:r>
            <a:r>
              <a:rPr lang="en" sz="12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1,561</a:t>
            </a:r>
            <a:endParaRPr sz="1200" b="1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# Recurring Gifts                  </a:t>
            </a:r>
            <a:r>
              <a:rPr lang="en" sz="12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245</a:t>
            </a:r>
            <a:endParaRPr sz="1200" b="1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b="1">
              <a:solidFill>
                <a:srgbClr val="073763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  <a:t>Best performing appeal:</a:t>
            </a:r>
            <a:br>
              <a:rPr lang="en" sz="1200" b="1">
                <a:solidFill>
                  <a:srgbClr val="073763"/>
                </a:solidFill>
                <a:latin typeface="Roboto"/>
                <a:ea typeface="Roboto"/>
                <a:cs typeface="Roboto"/>
                <a:sym typeface="Roboto"/>
              </a:rPr>
            </a:br>
            <a:r>
              <a:rPr lang="en" sz="1200" b="1">
                <a:solidFill>
                  <a:srgbClr val="6D9EEB"/>
                </a:solidFill>
                <a:latin typeface="Roboto"/>
                <a:ea typeface="Roboto"/>
                <a:cs typeface="Roboto"/>
                <a:sym typeface="Roboto"/>
              </a:rPr>
              <a:t>Vision (Summer 2025)</a:t>
            </a:r>
            <a:endParaRPr sz="1200" b="1">
              <a:solidFill>
                <a:srgbClr val="6D9EEB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500" b="1">
              <a:solidFill>
                <a:srgbClr val="1D7E75"/>
              </a:solidFill>
              <a:latin typeface="Roboto"/>
              <a:ea typeface="Roboto"/>
              <a:cs typeface="Roboto"/>
              <a:sym typeface="Roboto"/>
            </a:endParaRPr>
          </a:p>
        </p:txBody>
      </p:sp>
      <p:pic>
        <p:nvPicPr>
          <p:cNvPr id="112" name="Google Shape;112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64100" y="716175"/>
            <a:ext cx="5572776" cy="2538146"/>
          </a:xfrm>
          <a:prstGeom prst="rect">
            <a:avLst/>
          </a:prstGeom>
          <a:noFill/>
          <a:ln w="19050" cap="flat" cmpd="sng">
            <a:solidFill>
              <a:srgbClr val="073763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113" name="Google Shape;113;p18"/>
          <p:cNvPicPr preferRelativeResize="0"/>
          <p:nvPr/>
        </p:nvPicPr>
        <p:blipFill rotWithShape="1">
          <a:blip r:embed="rId5">
            <a:alphaModFix/>
          </a:blip>
          <a:srcRect l="1504" t="2591" r="1494" b="1088"/>
          <a:stretch/>
        </p:blipFill>
        <p:spPr>
          <a:xfrm>
            <a:off x="6207100" y="3346679"/>
            <a:ext cx="2638999" cy="1541534"/>
          </a:xfrm>
          <a:prstGeom prst="rect">
            <a:avLst/>
          </a:prstGeom>
          <a:noFill/>
          <a:ln w="19050" cap="flat" cmpd="sng">
            <a:noFill/>
            <a:prstDash val="solid"/>
            <a:round/>
            <a:headEnd type="none" w="sm" len="sm"/>
            <a:tailEnd type="none" w="sm" len="sm"/>
          </a:ln>
        </p:spPr>
      </p:pic>
      <p:sp>
        <p:nvSpPr>
          <p:cNvPr id="8" name="Rectangle 7"/>
          <p:cNvSpPr/>
          <p:nvPr/>
        </p:nvSpPr>
        <p:spPr>
          <a:xfrm>
            <a:off x="6951124" y="270105"/>
            <a:ext cx="2192876" cy="307777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b="0" cap="none" spc="0" dirty="0" smtClean="0">
                <a:ln w="0">
                  <a:noFill/>
                </a:ln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CONFIDENTIAL</a:t>
            </a:r>
            <a:endParaRPr lang="en-US" b="0" cap="none" spc="0" dirty="0">
              <a:ln w="0">
                <a:noFill/>
              </a:ln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</TotalTime>
  <Words>659</Words>
  <Application>Microsoft Office PowerPoint</Application>
  <PresentationFormat>On-screen Show (16:9)</PresentationFormat>
  <Paragraphs>167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Roboto</vt:lpstr>
      <vt:lpstr>Arial</vt:lpstr>
      <vt:lpstr>Montserrat</vt:lpstr>
      <vt:lpstr>Simple Light</vt:lpstr>
      <vt:lpstr>PowerPoint Presentation</vt:lpstr>
      <vt:lpstr>Legacy Giving  FY 2025-26      </vt:lpstr>
      <vt:lpstr>Major Gifts FY 2025-26       </vt:lpstr>
      <vt:lpstr>Events FY 2025-26           </vt:lpstr>
      <vt:lpstr>Annual Giving FY 2025-26                                   </vt:lpstr>
      <vt:lpstr>Direct Response FY 2025-26 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Shelley Graham2</dc:creator>
  <cp:lastModifiedBy>pcadmin</cp:lastModifiedBy>
  <cp:revision>9</cp:revision>
  <dcterms:modified xsi:type="dcterms:W3CDTF">2026-04-09T15:59:38Z</dcterms:modified>
</cp:coreProperties>
</file>